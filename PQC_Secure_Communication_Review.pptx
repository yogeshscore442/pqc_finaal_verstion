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777240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100" b="1">
                <a:solidFill>
                  <a:srgbClr val="2DD3BF"/>
                </a:solidFill>
                <a:latin typeface="Aptos Display"/>
              </a:rPr>
              <a:t>PQC SECURE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64792"/>
            <a:ext cx="8869680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3600" b="1">
                <a:solidFill>
                  <a:srgbClr val="EBF2F9"/>
                </a:solidFill>
                <a:latin typeface="Aptos Display"/>
              </a:rPr>
              <a:t>Post-Quantum Cryptography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578608"/>
            <a:ext cx="5303520" cy="36576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900" b="1">
                <a:solidFill>
                  <a:srgbClr val="F7BE4C"/>
                </a:solidFill>
                <a:latin typeface="Aptos"/>
              </a:rPr>
              <a:t>Project Review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27248"/>
            <a:ext cx="996696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A6BBCF"/>
                </a:solidFill>
                <a:latin typeface="Aptos"/>
              </a:rPr>
              <a:t>Secure Chat  |  Quantum-Resistant Mail  |  Encrypted File Vault  |  Attack Simulation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041648"/>
            <a:ext cx="10652760" cy="1024128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270248"/>
            <a:ext cx="13716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4187952"/>
            <a:ext cx="8732520" cy="512064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0">
                <a:solidFill>
                  <a:srgbClr val="EBF2F9"/>
                </a:solidFill>
                <a:latin typeface="Aptos"/>
              </a:rPr>
              <a:t>Use NIST-standardized PQC primitives with authenticated encryption to protect communication from current and future cryptanalytic threats.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822960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Implementation: Flask + Socket.IO + SQLAlchemy + cryptography + liboqs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Review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Problem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40280" y="2331720"/>
            <a:ext cx="32004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6032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Architecture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0520" y="2331720"/>
            <a:ext cx="32003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056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Crypto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2331720"/>
            <a:ext cx="32004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Features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001000" y="2331720"/>
            <a:ext cx="32004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2104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7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Security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21240" y="2331720"/>
            <a:ext cx="32004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241280" y="1874519"/>
            <a:ext cx="16002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51007" y="2039112"/>
            <a:ext cx="138074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Testing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749039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749039"/>
            <a:ext cx="73152" cy="141732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3895344"/>
            <a:ext cx="49377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Review goal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315968"/>
            <a:ext cx="4937760" cy="70408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Explain what the platform solves, how data moves through it, which algorithms are used, and how the defenses are verified.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749039"/>
            <a:ext cx="5257800" cy="141732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3749039"/>
            <a:ext cx="73152" cy="141732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3895344"/>
            <a:ext cx="49377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Demo storyline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315968"/>
            <a:ext cx="4937760" cy="70408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Register -&gt; login -&gt; start hybrid handshake -&gt; send encrypted chat -&gt; test tampering/replay -&gt; inspect audit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The Problem: Classical Crypto Is Not Future-Proof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73152" cy="150876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20040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RSA and ECC protect many systems using integer factorization and discrete logarithm hardness.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73152" cy="150876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Quantum threat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20040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Shor's algorithm can theoretically break these asymmetric assumptions on a sufficiently capable quantum computer.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2044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73152" cy="150876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46504"/>
            <a:ext cx="32004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HNDL attack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67128"/>
            <a:ext cx="320040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Harvest Now, Decrypt Later: capture encrypted data today and decrypt it when quantum capability arrives.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94760"/>
            <a:ext cx="2011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Project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87952"/>
            <a:ext cx="10515600" cy="150876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EBF2F9"/>
                </a:solidFill>
                <a:latin typeface="Aptos"/>
              </a:defRPr>
            </a:pPr>
            <a:r>
              <a:t>- Adopt NIST-standardized post-quantum key establishment and signatures.</a:t>
            </a:r>
          </a:p>
          <a:p>
            <a:pPr>
              <a:spcAft>
                <a:spcPts val="500"/>
              </a:spcAft>
              <a:defRPr sz="1700">
                <a:solidFill>
                  <a:srgbClr val="EBF2F9"/>
                </a:solidFill>
                <a:latin typeface="Aptos"/>
              </a:defRPr>
            </a:pPr>
            <a:r>
              <a:t>- Use hybrid key establishment during migration: X25519 + ML-KEM.</a:t>
            </a:r>
          </a:p>
          <a:p>
            <a:pPr>
              <a:spcAft>
                <a:spcPts val="500"/>
              </a:spcAft>
              <a:defRPr sz="1700">
                <a:solidFill>
                  <a:srgbClr val="EBF2F9"/>
                </a:solidFill>
                <a:latin typeface="Aptos"/>
              </a:defRPr>
            </a:pPr>
            <a:r>
              <a:t>- Use AES-256-GCM for fast authenticated bulk encryption.</a:t>
            </a:r>
          </a:p>
          <a:p>
            <a:pPr>
              <a:spcAft>
                <a:spcPts val="500"/>
              </a:spcAft>
              <a:defRPr sz="1700">
                <a:solidFill>
                  <a:srgbClr val="EBF2F9"/>
                </a:solidFill>
                <a:latin typeface="Aptos"/>
              </a:defRPr>
            </a:pPr>
            <a:r>
              <a:t>- Demonstrate attacks and defenses with real cryptographic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OBJECTIVES AND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What the Platform Provides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73152" cy="150876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Real-time 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9842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1-to-1 and group messaging through Socket.IO.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53128" y="1417320"/>
            <a:ext cx="73152" cy="150876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Secure 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4296" y="19842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Encrypted body plus sender signature and inbox/sent/read 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47888" y="14173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47888" y="1417320"/>
            <a:ext cx="73152" cy="150876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File vault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19842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Per-file AES-GCM key, encrypted storage, integrity digest.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4747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150876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6210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Attack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40416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Controlled wrong-key, tamper, signature, replay and MITM demonstrations.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3128" y="34747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53128" y="3474720"/>
            <a:ext cx="73152" cy="150876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54296" y="36210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Crypto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0416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Primitive matrix, real execution checks and host-dependent benchmarks.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3474720"/>
            <a:ext cx="3337560" cy="150876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47888" y="3474720"/>
            <a:ext cx="73152" cy="150876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49056" y="36210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Auditability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4041648"/>
            <a:ext cx="3017520" cy="79552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Security events, operation results, risk levels and timestamps.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END-TO-END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73152" cy="1874519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55063"/>
            <a:ext cx="24231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075688"/>
            <a:ext cx="2423160" cy="116128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HTML/CSS/JavaScript dashboard
Socket.IO client
Chart.js + Three.js visualizations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508760"/>
            <a:ext cx="274320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03320" y="1508760"/>
            <a:ext cx="73152" cy="1874519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7" y="1655063"/>
            <a:ext cx="24231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Application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075688"/>
            <a:ext cx="2423160" cy="116128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Flask app factory
Blueprint routes
Socket.IO event handlers
Session-based authentication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150876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66560" y="1508760"/>
            <a:ext cx="73152" cy="1874519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1655063"/>
            <a:ext cx="18288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Crypto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075688"/>
            <a:ext cx="1828800" cy="116128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cryptography primitives
liboqs PQC wrappers
HKDF key derivation
AEAD encryption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08760"/>
            <a:ext cx="2148840" cy="1874519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508760"/>
            <a:ext cx="73152" cy="1874519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36608" y="1655063"/>
            <a:ext cx="18288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Persistence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075688"/>
            <a:ext cx="1828800" cy="116128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SQLite / SQLAlchemy
Ciphertext records
Audit logs
Session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251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416552"/>
            <a:ext cx="174650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User action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88920" y="4709160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063239" y="4251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72968" y="4416552"/>
            <a:ext cx="174650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HTTP / REST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0" y="4709160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303520" y="4251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13248" y="4416552"/>
            <a:ext cx="174650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Socket.IO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269479" y="4709160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543800" y="4251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53527" y="4416552"/>
            <a:ext cx="174650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Crypto + DB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509760" y="4709160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84080" y="425196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93807" y="4416552"/>
            <a:ext cx="174650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Verified response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596128"/>
            <a:ext cx="10515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A6BBCF"/>
                </a:solidFill>
                <a:latin typeface="Aptos"/>
              </a:rPr>
              <a:t>App factory registers /auth, /api, /api/mail, /api/files, /api/keys and /api/audit blueprints.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STEP 1: ESTABLISH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Identity Registration and 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7276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Register user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2029967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157276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73736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Hash password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2029967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157276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73736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Generate key suite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2029967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19" y="157276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173736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Store identity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19" y="2029967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57276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173736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Login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944368"/>
            <a:ext cx="22860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During registration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364992"/>
            <a:ext cx="10332720" cy="16002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Username is normalized and duplicate usernames are rejected.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Password is stored as a bcrypt hash, never as plaintext.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RSA-2048, ML-DSA, SLH-DSA and X25519 key pairs are generated.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Public/private key material is stored in the User record for this prototype.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Registration and login success/failure are written to AuditLog.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85232"/>
            <a:ext cx="1060704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413248"/>
            <a:ext cx="101498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500" b="1">
                <a:solidFill>
                  <a:srgbClr val="F7BE4C"/>
                </a:solidFill>
                <a:latin typeface="Aptos"/>
              </a:rPr>
              <a:t>Review point: authentication identity and cryptographic identity are created together.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ALGORITHMS AND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Cryptographic Toolbox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53312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1353312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353312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72184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Key establishment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1472184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ML-KEM-512 / 768 / 1024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72184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Post-quantum KEM; NIST FIPS 203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975104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926080" y="1975104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975104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093976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Modern classical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2093976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X25519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93976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Fast ECDH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96896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26080" y="2596896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596896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2715768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Digital signatures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715768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ML-DSA-44 / 65 / 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15768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PQC identity authentication; FIPS 204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218688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26080" y="3218688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63640" y="3218688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337560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Backup signature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63240" y="3337560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SLH-DSA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337560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Hash-based signature; FIPS 205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840480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926080" y="3840480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63640" y="3840480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3959352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Bulk encryption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63240" y="3959352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AES-256-GCM / ChaCha20-Poly1305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3959352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Confidentiality + integrity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462272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926080" y="4462272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63640" y="4462272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581144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Lightweight AEAD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63240" y="4581144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Ascon-128a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4581144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Constrained/IoT-oriented option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5084064"/>
            <a:ext cx="2194560" cy="484632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2926080" y="5084064"/>
            <a:ext cx="32004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263640" y="5084064"/>
            <a:ext cx="5257800" cy="48463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2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202936"/>
            <a:ext cx="19202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2DD3BF"/>
                </a:solidFill>
                <a:latin typeface="Aptos"/>
              </a:rPr>
              <a:t>Hash + KDF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63240" y="5202936"/>
            <a:ext cx="292608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1">
                <a:solidFill>
                  <a:srgbClr val="EBF2F9"/>
                </a:solidFill>
                <a:latin typeface="Aptos"/>
              </a:rPr>
              <a:t>SHA3 family, SHAKE-256, HKDF-SHA-384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202936"/>
            <a:ext cx="489204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A6BBCF"/>
                </a:solidFill>
                <a:latin typeface="Aptos"/>
              </a:rPr>
              <a:t>Integrity, context binding, key separation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CORE SECURITY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Hybrid Key Establishment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8288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700" b="1">
                <a:solidFill>
                  <a:srgbClr val="F7BE4C"/>
                </a:solidFill>
                <a:latin typeface="Aptos"/>
              </a:rPr>
              <a:t>Why hybrid?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55648"/>
            <a:ext cx="105156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0">
                <a:solidFill>
                  <a:srgbClr val="EBF2F9"/>
                </a:solidFill>
                <a:latin typeface="Aptos"/>
              </a:rPr>
              <a:t>Two independent mechanisms contribute to one session key. The design supports migration: classical performance plus PQC protection.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907792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X25519 ECDH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3200400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79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907792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ML-KEM encapsulation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79" y="3200400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2907792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Concatenate secrets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0" y="3200400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89519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7" y="2907792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HKDF-SHA-384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646919" y="3200400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921240" y="2743200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30967" y="2907792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32-byte session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57200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28032"/>
            <a:ext cx="99669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800" b="1">
                <a:solidFill>
                  <a:srgbClr val="2DD3BF"/>
                </a:solidFill>
                <a:latin typeface="Consolas"/>
              </a:rPr>
              <a:t>K_session = HKDF-SHA-384(X25519_secret || ML-KEM_secret, info = hybrid-v1)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650992"/>
            <a:ext cx="1042416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300" b="0">
                <a:solidFill>
                  <a:srgbClr val="A6BBCF"/>
                </a:solidFill>
                <a:latin typeface="Aptos"/>
              </a:rPr>
              <a:t>The same derived key is stored in memory for both communication directions; only a SHA-256 session hash is persisted.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STEP 2: AGREE ON A SESSION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Interactive Chat Handshake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09344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Alice initiates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901952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144475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609344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Bob accepts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1901952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144475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609344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Generate ephemeral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1901952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19" y="144475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1609344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Sign + verify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19" y="1901952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444752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1609344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Activate 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0515600" cy="16459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Modes: Classical, Modern Classical, PQC and Hybrid.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PQC mode uses ML-KEM for shared secret and ML-DSA for authentication.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Hybrid mode signs responder X25519 public key plus KEM ciphertext.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Signature verification protects handshake material from substitution/MITM.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Both users receive the same session hash after successful derivation.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30368"/>
            <a:ext cx="1042416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58384"/>
            <a:ext cx="100584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500" b="1">
                <a:solidFill>
                  <a:srgbClr val="F46A6A"/>
                </a:solidFill>
                <a:latin typeface="Aptos"/>
              </a:rPr>
              <a:t>Failure path: invalid identity signature -&gt; handshake_failed -&gt; no active session.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STEP 3: ENCRYPT, AUTHENTICATE, DELIVER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Message Protection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Plaintext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938528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AES-256-GCM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1938528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Ciphertext + IV + tag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1938528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19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ML-DSA signature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19" y="1938528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Verify + decrypt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17520"/>
            <a:ext cx="3657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What is checked before delivery?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429000"/>
            <a:ext cx="10241280" cy="15544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The sender is authenticated through the active session and user identity.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The message signature is verified against ciphertext bytes.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Sequence number is checked against the session replay set.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GCM authentication tag validates ciphertext and associated data.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Only after checks pass is plaintext emitted to the recipient and ciphertext stored.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532120"/>
            <a:ext cx="104241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F7BE4C"/>
                </a:solidFill>
                <a:latin typeface="Aptos"/>
              </a:rPr>
              <a:t>AAD binds context such as mode and sequence number, so metadata changes also cause authentication failure.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ASYNCHRONOUS ENCRYPTED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Secure Mail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Compose mail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95728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Create Email ID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78808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79976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HKDF context key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63056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64224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AES-GCM encrypt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48471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ML-DSA sign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31551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32719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7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Read: verify + decrypt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926080"/>
            <a:ext cx="27432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Context-bound derivation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337560"/>
            <a:ext cx="47548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800" b="1">
                <a:solidFill>
                  <a:srgbClr val="EBF2F9"/>
                </a:solidFill>
                <a:latin typeface="Consolas"/>
              </a:rPr>
              <a:t>Seed = mail-ID-sender-receiver-subject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3154680"/>
            <a:ext cx="5577840" cy="14630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Mail body is stored as encrypted_body with IV, authentication tag and signature.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Default non-Classical signing path uses ML-DSA; Classical mode uses RSA.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Read route checks recipient/sender access, verifies signature and performs GCM decryption.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Inbox, sent, read state and audit events are supported.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7800"/>
            <a:ext cx="10607040" cy="50292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376672"/>
            <a:ext cx="10241280" cy="237744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1">
                <a:solidFill>
                  <a:srgbClr val="F7BE4C"/>
                </a:solidFill>
                <a:latin typeface="Aptos"/>
              </a:rPr>
              <a:t>Implementation note: this is server-side encrypted mail; the server performs read-time decryption.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CONFIDENTIALITY +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Encrypted File Vault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Upload file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828800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95728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5456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Random file key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78808" y="1828800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79976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AES-256-GCM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163056" y="1828800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64224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Wrap key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28800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48471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199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Store .enc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131551" y="1828800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32719" y="137160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7" y="153619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Download +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2926080"/>
            <a:ext cx="10515600" cy="192024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Allowed document, image, text and archive extensions; maximum size is 25 MB.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Each upload receives a fresh 32-byte per-file AES key.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The file key is wrapped by a platform vault master key derived through HKDF.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Stored payload is ciphertext under instance/uploads/*.enc.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Integrity choices: SHA3-256 default, SHA3-512 or SHAKE-256 optional.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Download unwraps key, decrypts, checks digest and returns the file.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349240"/>
            <a:ext cx="10515600" cy="43891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F7BE4C"/>
                </a:solidFill>
                <a:latin typeface="Aptos"/>
              </a:rPr>
              <a:t>Design boundary: download creates plaintext in temp_downloads for response, so the vault is encrypted storage, not strict zero-knowledge storage.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SECURITY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Attack Lab: Demonstrable Defenses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25880"/>
          </a:xfrm>
          <a:prstGeom prst="rect">
            <a:avLst/>
          </a:prstGeom>
          <a:solidFill>
            <a:srgbClr val="F46A6A"/>
          </a:solidFill>
          <a:ln>
            <a:solidFill>
              <a:srgbClr val="F4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46A6A"/>
                </a:solidFill>
                <a:latin typeface="Aptos"/>
              </a:rPr>
              <a:t>Wrong key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AES-GCM raises InvalidTag
Defense: Confidentiality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417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417320"/>
            <a:ext cx="73152" cy="132588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8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Bit tamper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8" y="19842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Tag validation fails
Defense: Integrity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173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73152" cy="132588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0768" y="15636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Modified payload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0768" y="19842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ML-DSA verify = False
Defense: Authenticity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2461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246120"/>
            <a:ext cx="73152" cy="132588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924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Replay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8130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Duplicate sequence rejected
Defense: Freshness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461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3246120"/>
            <a:ext cx="73152" cy="132588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3924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MITM substitution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6008" y="38130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Signature check rejects altered keys
Defense: Handshake identity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3337560" cy="132588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246120"/>
            <a:ext cx="73152" cy="1325880"/>
          </a:xfrm>
          <a:prstGeom prst="rect">
            <a:avLst/>
          </a:prstGeom>
          <a:solidFill>
            <a:srgbClr val="A6BBCF"/>
          </a:solidFill>
          <a:ln>
            <a:solidFill>
              <a:srgbClr val="A6BB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8" y="3392424"/>
            <a:ext cx="301752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A6BBCF"/>
                </a:solidFill>
                <a:latin typeface="Aptos"/>
              </a:rPr>
              <a:t>Plain HTTP baseline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0768" y="3813048"/>
            <a:ext cx="3017520" cy="612647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Shows why encryption is needed
Defense: Awareness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532120"/>
            <a:ext cx="10515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A6BBCF"/>
                </a:solidFill>
                <a:latin typeface="Aptos"/>
              </a:rPr>
              <a:t>The strongest demonstrations invoke real crypto operations and observe the rejection or verification result.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WHAT THE DATABASE REMEMBERS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Data Model and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09928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User
credentials + key suite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1709928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Message
ciphertext + tag + signature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709928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Email
encrypted body + signature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50876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45167" y="1709928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Attachment
wrapped file key + digest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747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675887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GroupChat / Member
group access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34747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4448" y="3675887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AuditLog
security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4747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3675887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BenchmarkResult
timing + size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47472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7" y="3675887"/>
            <a:ext cx="2286000" cy="731520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500" b="1">
                <a:solidFill>
                  <a:srgbClr val="EBF2F9"/>
                </a:solidFill>
                <a:latin typeface="Aptos"/>
              </a:rPr>
              <a:t>UserSessionKey
hash +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532120"/>
            <a:ext cx="105156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400" b="0">
                <a:solidFill>
                  <a:srgbClr val="2DD3BF"/>
                </a:solidFill>
                <a:latin typeface="Aptos"/>
              </a:rPr>
              <a:t>Security principle in schema: Message and Email records persist encrypted payload fields, not readable plaintext bodies.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HOW USERS INTERACT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API and Frontend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2194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21945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/auth/register
/auth/login
/auth/logout
/auth/me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173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417320"/>
            <a:ext cx="73152" cy="182880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563624"/>
            <a:ext cx="2194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Crypto + 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984248"/>
            <a:ext cx="21945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/api/crypto/primitives
/api/crypto/test_primitive
benchmarks and attack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173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417320"/>
            <a:ext cx="73152" cy="182880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563624"/>
            <a:ext cx="2194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84248"/>
            <a:ext cx="21945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Socket.IO chat events
/api/mail/*
/api/files/*
Group chat APIs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17320"/>
            <a:ext cx="25146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869680" y="1417320"/>
            <a:ext cx="73152" cy="1828800"/>
          </a:xfrm>
          <a:prstGeom prst="rect">
            <a:avLst/>
          </a:prstGeom>
          <a:solidFill>
            <a:srgbClr val="68DC91"/>
          </a:solidFill>
          <a:ln>
            <a:solidFill>
              <a:srgbClr val="68D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70848" y="1563624"/>
            <a:ext cx="21945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68DC91"/>
                </a:solidFill>
                <a:latin typeface="Aptos"/>
              </a:rPr>
              <a:t>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70848" y="1984248"/>
            <a:ext cx="21945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/api/keys/*
/api/audit/*
security monitor
online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86200"/>
            <a:ext cx="201168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Dashboard 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297680"/>
            <a:ext cx="10149840" cy="132588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Authentication and identity generation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Chat, groups and online status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Secure mail and encrypted files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Attack Lab, Crypto Lab and benchmarks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Audit logs and key/session 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Testing and Verification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Unit crypto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84248"/>
            <a:ext cx="31089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AES-GCM, ChaCha20, Ascon, SHA3, SHAKE, HKDF, RSA, X25519, ML-KEM, ML-DSA, SLH-DSA and hybrid equality.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41732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17320"/>
            <a:ext cx="73152" cy="182880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Integration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84248"/>
            <a:ext cx="31089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Registration/login, mail send/read, file upload/download, primitive matrix, benchmarks and attack endpoints.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417320"/>
            <a:ext cx="3429000" cy="18288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1563624"/>
            <a:ext cx="31089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Interactive tests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608" y="1984248"/>
            <a:ext cx="3108960" cy="11155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Two Socket.IO clients complete a Hybrid handshake, compare session hashes and exchange an encrypted message.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58768"/>
            <a:ext cx="274320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600" b="1">
                <a:solidFill>
                  <a:srgbClr val="2DD3BF"/>
                </a:solidFill>
                <a:latin typeface="Aptos"/>
              </a:rPr>
              <a:t>Important assertions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79392"/>
            <a:ext cx="10241280" cy="141732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Encapsulated and decapsulated secrets are equal.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Modified ciphertext is rejected by AEAD.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Modified signed data is rejected by ML-DSA.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Wrong key produces authentication failure.</a:t>
            </a:r>
          </a:p>
          <a:p>
            <a:pPr>
              <a:spcAft>
                <a:spcPts val="500"/>
              </a:spcAft>
              <a:defRPr sz="1600">
                <a:solidFill>
                  <a:srgbClr val="EBF2F9"/>
                </a:solidFill>
                <a:latin typeface="Aptos"/>
              </a:defRPr>
            </a:pPr>
            <a:r>
              <a:t>- NIST security levels 1, 3 and 5 are exercised.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FIVE-MINUTE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Suggested Live Review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Register Alice/Bob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87168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6896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Login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70248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71416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Hybrid handshake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254496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55664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Send message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38744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439912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Attack Lab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22992" y="1874519"/>
            <a:ext cx="201168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424160" y="1417320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33888" y="1581912"/>
            <a:ext cx="1563624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Audit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2971800"/>
            <a:ext cx="320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2971800"/>
            <a:ext cx="97840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Create two users and show generated key fingerprints.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447288"/>
            <a:ext cx="320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447288"/>
            <a:ext cx="97840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Select Hybrid + NIST Level 3; accept handshake and show same session hash.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3922776"/>
            <a:ext cx="320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3922776"/>
            <a:ext cx="97840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Send a message; show encrypted packet fields and recipient plaintext.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398264"/>
            <a:ext cx="320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398264"/>
            <a:ext cx="97840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Run bit tamper / wrong key / replay tests; show blocked results.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73752"/>
            <a:ext cx="32004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2DD3BF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73752"/>
            <a:ext cx="97840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0">
                <a:solidFill>
                  <a:srgbClr val="EBF2F9"/>
                </a:solidFill>
                <a:latin typeface="Aptos"/>
              </a:rPr>
              <a:t>Open audit monitor and explain algorithm, result and risk level.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ENGINEERING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Current Limitations and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98448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39"/>
            <a:ext cx="2514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Server-side decryption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435607"/>
            <a:ext cx="76352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EBF2F9"/>
                </a:solidFill>
                <a:latin typeface="Aptos"/>
              </a:rPr>
              <a:t>Mail and file download decrypt on the server; this is not strict end-to-end or zero-knowledge design.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93976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58568"/>
            <a:ext cx="2514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Key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231136"/>
            <a:ext cx="76352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EBF2F9"/>
                </a:solidFill>
                <a:latin typeface="Aptos"/>
              </a:rPr>
              <a:t>Private identity keys are stored in database fields without an additional at-rest encryption layer.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9504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54096"/>
            <a:ext cx="2514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File ownership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3026664"/>
            <a:ext cx="76352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EBF2F9"/>
                </a:solidFill>
                <a:latin typeface="Aptos"/>
              </a:rPr>
              <a:t>Authenticated list/download paths should be tightened with explicit attachment ownership and authorization checks.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85031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849623"/>
            <a:ext cx="2514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Replay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822191"/>
            <a:ext cx="76352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EBF2F9"/>
                </a:solidFill>
                <a:latin typeface="Aptos"/>
              </a:rPr>
              <a:t>Live chat rejects duplicate sequence numbers, but does not fully enforce monotonic order or timestamps.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80560"/>
            <a:ext cx="10835640" cy="621792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645152"/>
            <a:ext cx="2514600" cy="22860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400" b="1">
                <a:solidFill>
                  <a:srgbClr val="F7BE4C"/>
                </a:solidFill>
                <a:latin typeface="Aptos"/>
              </a:rPr>
              <a:t>Prototype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617720"/>
            <a:ext cx="7635240" cy="310896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b="0">
                <a:solidFill>
                  <a:srgbClr val="EBF2F9"/>
                </a:solidFill>
                <a:latin typeface="Aptos"/>
              </a:rPr>
              <a:t>Use production secrets, HTTPS/WSS, secure cookies, rate limits, secret management and a production DB before deployment.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FROM ACADEMIC PROTOTYPE TO HARDENED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Protect private keys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51760" y="1938528"/>
            <a:ext cx="274319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79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3580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True client E2E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983479" y="1938528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25780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67528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Authorization hardening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0" y="1938528"/>
            <a:ext cx="274320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89519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7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Deploy securely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19" y="1938528"/>
            <a:ext cx="274321" cy="0"/>
          </a:xfrm>
          <a:prstGeom prst="line">
            <a:avLst/>
          </a:prstGeom>
          <a:ln w="25400">
            <a:solidFill>
              <a:srgbClr val="2DD3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921240" y="1481328"/>
            <a:ext cx="2057400" cy="91440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30967" y="1645920"/>
            <a:ext cx="1837943" cy="566928"/>
          </a:xfrm>
          <a:prstGeom prst="rect">
            <a:avLst/>
          </a:prstGeom>
          <a:noFill/>
        </p:spPr>
        <p:txBody>
          <a:bodyPr wrap="square" lIns="54864" rIns="54864" anchor="ctr">
            <a:spAutoFit/>
          </a:bodyPr>
          <a:lstStyle/>
          <a:p>
            <a:pPr algn="ctr"/>
            <a:r>
              <a:rPr sz="1400" b="1">
                <a:solidFill>
                  <a:srgbClr val="EBF2F9"/>
                </a:solidFill>
                <a:latin typeface="Aptos"/>
              </a:rPr>
              <a:t>Scale + monitor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063240"/>
            <a:ext cx="10424160" cy="2057400"/>
          </a:xfrm>
          <a:prstGeom prst="rect">
            <a:avLst/>
          </a:prstGeom>
          <a:noFill/>
        </p:spPr>
        <p:txBody>
          <a:bodyPr wrap="square" lIns="73152" rIns="36576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Encrypt private keys with a user-controlled KMS/HSM-backed wrapping key.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Move mail/file key derivation and decryption to trusted clients where appropriate.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Enforce attachment ownership, group authorization and least privilege on every route.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Use HTTPS/WSS, secure cookie flags, CSRF protection, rate limiting and environment secrets.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Replace in-memory session/replay state with a shared, durable store for multi-worker deployment.</a:t>
            </a:r>
          </a:p>
          <a:p>
            <a:pPr>
              <a:spcAft>
                <a:spcPts val="500"/>
              </a:spcAft>
              <a:defRPr sz="1500">
                <a:solidFill>
                  <a:srgbClr val="EBF2F9"/>
                </a:solidFill>
                <a:latin typeface="Aptos"/>
              </a:defRPr>
            </a:pPr>
            <a:r>
              <a:t>- Add migration/versioning, observability, threat modeling and external security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4937760" cy="256032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000" b="1">
                <a:solidFill>
                  <a:srgbClr val="2DD3BF"/>
                </a:solidFill>
                <a:latin typeface="Aptos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12648"/>
            <a:ext cx="11064240" cy="56692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2700" b="1">
                <a:solidFill>
                  <a:srgbClr val="EBF2F9"/>
                </a:solidFill>
                <a:latin typeface="Aptos Display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84048"/>
            <a:ext cx="411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r"/>
            <a:r>
              <a:rPr sz="1100" b="1">
                <a:solidFill>
                  <a:srgbClr val="A6BBCF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2500" b="1">
                <a:solidFill>
                  <a:srgbClr val="2DD3BF"/>
                </a:solidFill>
                <a:latin typeface="Aptos Display"/>
              </a:rPr>
              <a:t>A practical PQC learning and demonstration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73152" cy="1371600"/>
          </a:xfrm>
          <a:prstGeom prst="rect">
            <a:avLst/>
          </a:prstGeom>
          <a:solidFill>
            <a:srgbClr val="4897FF"/>
          </a:solidFill>
          <a:ln>
            <a:solidFill>
              <a:srgbClr val="48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30632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4897FF"/>
                </a:solidFill>
                <a:latin typeface="Aptos"/>
              </a:rPr>
              <a:t>1. 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90088"/>
            <a:ext cx="3063240" cy="6583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It shows why current asymmetric crypto needs a quantum migration path.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24231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423160"/>
            <a:ext cx="73152" cy="1371600"/>
          </a:xfrm>
          <a:prstGeom prst="rect">
            <a:avLst/>
          </a:prstGeom>
          <a:solidFill>
            <a:srgbClr val="2DD3BF"/>
          </a:solidFill>
          <a:ln>
            <a:solidFill>
              <a:srgbClr val="2DD3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569464"/>
            <a:ext cx="30632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2DD3BF"/>
                </a:solidFill>
                <a:latin typeface="Aptos"/>
              </a:rPr>
              <a:t>2. Implement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990088"/>
            <a:ext cx="3063240" cy="6583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It combines ML-KEM, ML-DSA, X25519, HKDF and AES-GCM in usable communication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4231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22037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2423160"/>
            <a:ext cx="73152" cy="1371600"/>
          </a:xfrm>
          <a:prstGeom prst="rect">
            <a:avLst/>
          </a:prstGeom>
          <a:solidFill>
            <a:srgbClr val="F7BE4C"/>
          </a:solidFill>
          <a:ln>
            <a:solidFill>
              <a:srgbClr val="F7BE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2569464"/>
            <a:ext cx="306324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1">
                <a:solidFill>
                  <a:srgbClr val="F7BE4C"/>
                </a:solidFill>
                <a:latin typeface="Aptos"/>
              </a:rPr>
              <a:t>3.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2990088"/>
            <a:ext cx="3063240" cy="658368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500" b="0">
                <a:solidFill>
                  <a:srgbClr val="EBF2F9"/>
                </a:solidFill>
                <a:latin typeface="Aptos"/>
              </a:rPr>
              <a:t>It includes real crypto tests and controlled attack simulations instead of only theoretical claims.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617720"/>
            <a:ext cx="10287000" cy="777240"/>
          </a:xfrm>
          <a:prstGeom prst="roundRect">
            <a:avLst>
              <a:gd name="adj" fmla="val 8000"/>
            </a:avLst>
          </a:prstGeom>
          <a:solidFill>
            <a:srgbClr val="182B46"/>
          </a:solidFill>
          <a:ln>
            <a:solidFill>
              <a:srgbClr val="182B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4855464"/>
            <a:ext cx="9738360" cy="32004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800" b="1">
                <a:solidFill>
                  <a:srgbClr val="EBF2F9"/>
                </a:solidFill>
                <a:latin typeface="Aptos"/>
              </a:rPr>
              <a:t>Review closing line: “The platform connects cryptographic theory to visible, testable application behavior.”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698480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ctr"/>
            <a:r>
              <a:rPr sz="1600" b="0">
                <a:solidFill>
                  <a:srgbClr val="A6BBC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